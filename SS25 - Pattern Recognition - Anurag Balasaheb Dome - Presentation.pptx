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0"/>
  </p:notesMasterIdLst>
  <p:sldIdLst>
    <p:sldId id="27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2" r:id="rId13"/>
    <p:sldId id="268" r:id="rId14"/>
    <p:sldId id="273" r:id="rId15"/>
    <p:sldId id="274" r:id="rId16"/>
    <p:sldId id="269" r:id="rId17"/>
    <p:sldId id="260" r:id="rId18"/>
    <p:sldId id="271" r:id="rId1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017133-C96B-DF4E-915D-C9F5CB61733B}" v="3" dt="2024-07-03T04:26:46.3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D36DC-22D9-1D48-B156-570ADABAD195}" type="datetimeFigureOut">
              <a:rPr lang="en-PK" smtClean="0"/>
              <a:t>07/08/2025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2E91D4-7FD1-3840-B84E-4FC8A59FC22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4955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28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29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76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793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42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42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71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18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84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030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4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7/8/2025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93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ashim.ali@ue-germany.de" TargetMode="External"/><Relationship Id="rId2" Type="http://schemas.openxmlformats.org/officeDocument/2006/relationships/hyperlink" Target="mailto:anurag.dome@ue.germany.d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DD960-0872-4DD7-8316-AEAB53D7D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43" y="280825"/>
            <a:ext cx="10634472" cy="2157984"/>
          </a:xfrm>
        </p:spPr>
        <p:txBody>
          <a:bodyPr/>
          <a:lstStyle/>
          <a:p>
            <a:r>
              <a:rPr lang="en-US" sz="4000" dirty="0"/>
              <a:t>Sign Language Detection Using Convolutional Neural Networks (CNN)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538ED-9BDE-5A9B-30CC-33C15809E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43" y="3127761"/>
            <a:ext cx="10506991" cy="2877114"/>
          </a:xfrm>
        </p:spPr>
        <p:txBody>
          <a:bodyPr numCol="2">
            <a:normAutofit/>
          </a:bodyPr>
          <a:lstStyle/>
          <a:p>
            <a:pPr algn="ctr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Anurag Balasaheb Dome </a:t>
            </a:r>
          </a:p>
          <a:p>
            <a:pPr algn="ctr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Software Engineering </a:t>
            </a:r>
          </a:p>
          <a:p>
            <a:pPr algn="ctr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Univ. of Europe for Applied Sciences </a:t>
            </a:r>
          </a:p>
          <a:p>
            <a:pPr algn="ctr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Konrad-Ruse Ring 11, 14469 Potsdam, Germany</a:t>
            </a:r>
          </a:p>
          <a:p>
            <a:pPr algn="ctr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anurag.dome@ue.germany.de</a:t>
            </a:r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Raja Hashim Ali </a:t>
            </a:r>
          </a:p>
          <a:p>
            <a:pPr algn="ctr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Business AI Research Group </a:t>
            </a:r>
          </a:p>
          <a:p>
            <a:pPr algn="ctr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Univ. of Europe for Applied Sciences </a:t>
            </a:r>
          </a:p>
          <a:p>
            <a:pPr algn="ctr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Konrad-Ruse Ring 11, 14469 Potsdam, Germany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hashim.ali@ue-germany.de</a:t>
            </a:r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910A8E-3ACA-AC66-81B8-D86513BB8B4D}"/>
              </a:ext>
            </a:extLst>
          </p:cNvPr>
          <p:cNvCxnSpPr>
            <a:cxnSpLocks/>
          </p:cNvCxnSpPr>
          <p:nvPr/>
        </p:nvCxnSpPr>
        <p:spPr>
          <a:xfrm>
            <a:off x="529472" y="2168164"/>
            <a:ext cx="11133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458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4530" y="978408"/>
            <a:ext cx="5437433" cy="567588"/>
          </a:xfrm>
        </p:spPr>
        <p:txBody>
          <a:bodyPr/>
          <a:lstStyle/>
          <a:p>
            <a:r>
              <a:rPr sz="40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599" y="1948924"/>
            <a:ext cx="6579909" cy="41450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Sign language is vital for deaf communication.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Traditional translation methods are limited and costly.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Objective: Build a CNN to recognize ASL signs from images.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Promotes accessible, real-time communication via AI.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612FA9-5B1F-97B7-B40E-ED445F992524}"/>
              </a:ext>
            </a:extLst>
          </p:cNvPr>
          <p:cNvCxnSpPr>
            <a:cxnSpLocks/>
          </p:cNvCxnSpPr>
          <p:nvPr/>
        </p:nvCxnSpPr>
        <p:spPr>
          <a:xfrm>
            <a:off x="482600" y="1904214"/>
            <a:ext cx="11133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7E99A0D5-F061-1D25-C866-7302FDDAF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153" y="1904214"/>
            <a:ext cx="4441858" cy="4234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8747" y="1063249"/>
            <a:ext cx="7567891" cy="341345"/>
          </a:xfrm>
        </p:spPr>
        <p:txBody>
          <a:bodyPr/>
          <a:lstStyle/>
          <a:p>
            <a:r>
              <a:rPr sz="4000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900" y="2081386"/>
            <a:ext cx="9839750" cy="345214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Model Compactness: Achieve high accuracy with &lt;1M parameters.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Augmentation Efficacy: Enhance model robustness using augmentation.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Edge Deployment: Ensure real-time use on devices like Raspberry Pi.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E678BA-10C6-300D-C0E4-BAB339595CCC}"/>
              </a:ext>
            </a:extLst>
          </p:cNvPr>
          <p:cNvCxnSpPr>
            <a:cxnSpLocks/>
          </p:cNvCxnSpPr>
          <p:nvPr/>
        </p:nvCxnSpPr>
        <p:spPr>
          <a:xfrm>
            <a:off x="482600" y="1904214"/>
            <a:ext cx="11133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5033" y="742737"/>
            <a:ext cx="10273384" cy="1086062"/>
          </a:xfrm>
        </p:spPr>
        <p:txBody>
          <a:bodyPr/>
          <a:lstStyle/>
          <a:p>
            <a:r>
              <a:rPr sz="4000" dirty="0"/>
              <a:t>Methodology –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393" y="1979630"/>
            <a:ext cx="9830322" cy="369257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Dataset: Sign Language MNIST – 27,455 grayscale images.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Classes: 24 ASL letters (excluding J).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Images upscaled to 64×64 via bilinear interpolation.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Balanced: 24,500 training / 2,950 test samples.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F41E15-3CD0-64D3-1D4D-B90CB8E64CE6}"/>
              </a:ext>
            </a:extLst>
          </p:cNvPr>
          <p:cNvCxnSpPr>
            <a:cxnSpLocks/>
          </p:cNvCxnSpPr>
          <p:nvPr/>
        </p:nvCxnSpPr>
        <p:spPr>
          <a:xfrm>
            <a:off x="482600" y="1904214"/>
            <a:ext cx="11133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469F48A-80BA-7EB6-D2DC-F61C2D4BD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373" y="2336277"/>
            <a:ext cx="1797377" cy="17973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348F38-8977-23B9-D554-3B97FE7AA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372" y="4317885"/>
            <a:ext cx="1797378" cy="17973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9122" y="686176"/>
            <a:ext cx="8293755" cy="1067210"/>
          </a:xfrm>
        </p:spPr>
        <p:txBody>
          <a:bodyPr/>
          <a:lstStyle/>
          <a:p>
            <a:r>
              <a:rPr sz="4000" dirty="0"/>
              <a:t>Methodology –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4785" y="2261823"/>
            <a:ext cx="10042427" cy="350403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Normalized pixel values to [0, 1].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Stratified train-validation split.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Augmentations:</a:t>
            </a:r>
          </a:p>
          <a:p>
            <a:pPr>
              <a:defRPr sz="2400">
                <a:latin typeface="Times New Roman"/>
              </a:defRPr>
            </a:pPr>
            <a:r>
              <a:rPr dirty="0"/>
              <a:t>Rotation (±15°), Translation (10%), Zoom (±10%), Flip, Brightness.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2A49D2-DFC6-F946-416B-5FF5A885BB07}"/>
              </a:ext>
            </a:extLst>
          </p:cNvPr>
          <p:cNvCxnSpPr>
            <a:cxnSpLocks/>
          </p:cNvCxnSpPr>
          <p:nvPr/>
        </p:nvCxnSpPr>
        <p:spPr>
          <a:xfrm>
            <a:off x="482600" y="1904214"/>
            <a:ext cx="11133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4160" y="715427"/>
            <a:ext cx="8849935" cy="982367"/>
          </a:xfrm>
        </p:spPr>
        <p:txBody>
          <a:bodyPr/>
          <a:lstStyle/>
          <a:p>
            <a:r>
              <a:rPr sz="4000" dirty="0"/>
              <a:t>Methodology – 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941" y="2317055"/>
            <a:ext cx="10452492" cy="348985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Input: 64×64×1 grayscale image.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Three Conv layers (32, 64, 128 filters) with ReLU, BN, </a:t>
            </a:r>
            <a:r>
              <a:rPr dirty="0" err="1"/>
              <a:t>MaxPooling</a:t>
            </a:r>
            <a:r>
              <a:rPr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Dense: 128 neurons + Dropout(0.5).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Output: 24 neurons (SoftMax).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Total Params: ~850K.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7561A6-1C98-51F1-128C-64A75E042FC1}"/>
              </a:ext>
            </a:extLst>
          </p:cNvPr>
          <p:cNvCxnSpPr>
            <a:cxnSpLocks/>
          </p:cNvCxnSpPr>
          <p:nvPr/>
        </p:nvCxnSpPr>
        <p:spPr>
          <a:xfrm>
            <a:off x="482600" y="1904214"/>
            <a:ext cx="11133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960" y="379235"/>
            <a:ext cx="9604080" cy="1665811"/>
          </a:xfrm>
        </p:spPr>
        <p:txBody>
          <a:bodyPr/>
          <a:lstStyle/>
          <a:p>
            <a:r>
              <a:rPr lang="en-IN" sz="4000" dirty="0"/>
              <a:t>Methodology – Training Configuration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960" y="2438808"/>
            <a:ext cx="6917441" cy="3207051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Optimizer: Adam (</a:t>
            </a:r>
            <a:r>
              <a:rPr dirty="0" err="1"/>
              <a:t>lr</a:t>
            </a:r>
            <a:r>
              <a:rPr dirty="0"/>
              <a:t>=0.001).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Loss: Categorical Cross-Entropy.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Batch Size: 32, Epochs: 20 (</a:t>
            </a:r>
            <a:r>
              <a:rPr dirty="0" err="1"/>
              <a:t>EarlyStopping</a:t>
            </a:r>
            <a:r>
              <a:rPr dirty="0"/>
              <a:t> = 5).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Hardware: NVIDIA GPU.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95DAE0-6642-24DA-0D91-1229E5FD346F}"/>
              </a:ext>
            </a:extLst>
          </p:cNvPr>
          <p:cNvCxnSpPr>
            <a:cxnSpLocks/>
          </p:cNvCxnSpPr>
          <p:nvPr/>
        </p:nvCxnSpPr>
        <p:spPr>
          <a:xfrm>
            <a:off x="482600" y="1904214"/>
            <a:ext cx="11133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2728" y="1020829"/>
            <a:ext cx="5352592" cy="454466"/>
          </a:xfrm>
        </p:spPr>
        <p:txBody>
          <a:bodyPr/>
          <a:lstStyle/>
          <a:p>
            <a:r>
              <a:rPr sz="4000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501" y="2205872"/>
            <a:ext cx="7756427" cy="3176833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Validation Accuracy: ~99% by epoch 8.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Classification Report: Precision/Recall/F1 ≈ 0.99.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Confusion Matrix shows minor confusion (e.g., G vs. H).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Model size &lt;5MB – ideal for mobile/edge deployment.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8845CA-B072-D5D0-D9E4-772F2C4A4DC7}"/>
              </a:ext>
            </a:extLst>
          </p:cNvPr>
          <p:cNvCxnSpPr>
            <a:cxnSpLocks/>
          </p:cNvCxnSpPr>
          <p:nvPr/>
        </p:nvCxnSpPr>
        <p:spPr>
          <a:xfrm>
            <a:off x="482600" y="1904214"/>
            <a:ext cx="11133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A5D6-04DB-7C74-A001-81D96DA11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172" y="975835"/>
            <a:ext cx="4249656" cy="379052"/>
          </a:xfrm>
        </p:spPr>
        <p:txBody>
          <a:bodyPr/>
          <a:lstStyle/>
          <a:p>
            <a:r>
              <a:rPr lang="en-US" sz="4000" dirty="0"/>
              <a:t>Training Curves 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60AFB-A4EA-3AD6-09B0-D27185703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02" y="2290714"/>
            <a:ext cx="5317665" cy="35914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B1EEB4-0C30-F955-9394-438C6060E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90714"/>
            <a:ext cx="5313388" cy="348577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83FE49-382D-0144-18B7-7D6D243D6244}"/>
              </a:ext>
            </a:extLst>
          </p:cNvPr>
          <p:cNvCxnSpPr>
            <a:cxnSpLocks/>
          </p:cNvCxnSpPr>
          <p:nvPr/>
        </p:nvCxnSpPr>
        <p:spPr>
          <a:xfrm>
            <a:off x="482600" y="1904214"/>
            <a:ext cx="11133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911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506" y="835048"/>
            <a:ext cx="3401243" cy="737270"/>
          </a:xfrm>
        </p:spPr>
        <p:txBody>
          <a:bodyPr/>
          <a:lstStyle/>
          <a:p>
            <a:r>
              <a:rPr sz="4000" dirty="0"/>
              <a:t>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631" y="1977691"/>
            <a:ext cx="9492792" cy="3810367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Data augmentation improved generalization.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Overfitting avoided – aligned training/validation loss.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Static dataset limits recognition of dynamic gestures.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Misclassifications in similar hand shapes (G, H).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4F86EC-2F37-C96E-31C7-AB123B0D9CC3}"/>
              </a:ext>
            </a:extLst>
          </p:cNvPr>
          <p:cNvCxnSpPr>
            <a:cxnSpLocks/>
          </p:cNvCxnSpPr>
          <p:nvPr/>
        </p:nvCxnSpPr>
        <p:spPr>
          <a:xfrm>
            <a:off x="482600" y="1904214"/>
            <a:ext cx="11133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BC0F0-6AC3-4E64-F3A3-EFDCBE084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056" y="639043"/>
            <a:ext cx="4541887" cy="1067208"/>
          </a:xfrm>
        </p:spPr>
        <p:txBody>
          <a:bodyPr/>
          <a:lstStyle/>
          <a:p>
            <a:r>
              <a:rPr lang="en-US" sz="4000" dirty="0"/>
              <a:t>Correct Predictions </a:t>
            </a:r>
            <a:endParaRPr lang="en-IN" sz="4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82375EB-F064-87EB-08B0-8753E3BABF3C}"/>
              </a:ext>
            </a:extLst>
          </p:cNvPr>
          <p:cNvCxnSpPr>
            <a:cxnSpLocks/>
          </p:cNvCxnSpPr>
          <p:nvPr/>
        </p:nvCxnSpPr>
        <p:spPr>
          <a:xfrm>
            <a:off x="482600" y="1904214"/>
            <a:ext cx="11133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AD3C882-D91E-E032-30C6-AA0E5FDE6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174" y="2102178"/>
            <a:ext cx="6749651" cy="403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7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76EC5-0AFD-9E7F-BB08-307791392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16C0-5A39-C338-7CF1-D3CAFBDC3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056" y="639043"/>
            <a:ext cx="4847604" cy="1067208"/>
          </a:xfrm>
        </p:spPr>
        <p:txBody>
          <a:bodyPr/>
          <a:lstStyle/>
          <a:p>
            <a:r>
              <a:rPr lang="en-US" sz="4000" dirty="0"/>
              <a:t>Incorrect Predictions </a:t>
            </a:r>
            <a:endParaRPr lang="en-IN" sz="4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A5516E-FEEC-C4A8-BE63-92C6C5E89E7A}"/>
              </a:ext>
            </a:extLst>
          </p:cNvPr>
          <p:cNvCxnSpPr>
            <a:cxnSpLocks/>
          </p:cNvCxnSpPr>
          <p:nvPr/>
        </p:nvCxnSpPr>
        <p:spPr>
          <a:xfrm>
            <a:off x="482600" y="1904214"/>
            <a:ext cx="11133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9025B7A-C8D7-E17B-BF50-FFC433036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794" y="2052686"/>
            <a:ext cx="7052412" cy="422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2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0680" y="912421"/>
            <a:ext cx="3296895" cy="511027"/>
          </a:xfrm>
        </p:spPr>
        <p:txBody>
          <a:bodyPr/>
          <a:lstStyle/>
          <a:p>
            <a:r>
              <a:rPr sz="44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0582" y="1706254"/>
            <a:ext cx="10150836" cy="4440024"/>
          </a:xfrm>
        </p:spPr>
        <p:txBody>
          <a:bodyPr>
            <a:normAutofit/>
          </a:bodyPr>
          <a:lstStyle/>
          <a:p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Achieved high accuracy with compact CNN architecture.</a:t>
            </a:r>
          </a:p>
          <a:p>
            <a:pPr>
              <a:defRPr sz="2400">
                <a:latin typeface="Times New Roman"/>
              </a:defRPr>
            </a:pPr>
            <a:r>
              <a:rPr dirty="0"/>
              <a:t>Model is efficient for edge deployment (e.g., smartphones).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latin typeface="Times New Roman"/>
              </a:defRPr>
            </a:pPr>
            <a:r>
              <a:rPr dirty="0"/>
              <a:t>Future Work:</a:t>
            </a:r>
          </a:p>
          <a:p>
            <a:pPr marL="1028700" lvl="1" indent="-342900">
              <a:buFont typeface="Courier New" panose="02070309020205020404" pitchFamily="49" charset="0"/>
              <a:buChar char="o"/>
              <a:defRPr sz="2400">
                <a:latin typeface="Times New Roman"/>
              </a:defRPr>
            </a:pPr>
            <a:r>
              <a:rPr dirty="0"/>
              <a:t>Support dynamic gestures (CNN + LSTM).</a:t>
            </a:r>
          </a:p>
          <a:p>
            <a:pPr marL="1028700" lvl="1" indent="-342900">
              <a:buFont typeface="Courier New" panose="02070309020205020404" pitchFamily="49" charset="0"/>
              <a:buChar char="o"/>
              <a:defRPr sz="2400">
                <a:latin typeface="Times New Roman"/>
              </a:defRPr>
            </a:pPr>
            <a:r>
              <a:rPr dirty="0"/>
              <a:t>Real-world RGB datasets.</a:t>
            </a:r>
          </a:p>
          <a:p>
            <a:pPr marL="1028700" lvl="1" indent="-342900">
              <a:buFont typeface="Courier New" panose="02070309020205020404" pitchFamily="49" charset="0"/>
              <a:buChar char="o"/>
              <a:defRPr sz="2400">
                <a:latin typeface="Times New Roman"/>
              </a:defRPr>
            </a:pPr>
            <a:r>
              <a:rPr dirty="0"/>
              <a:t>Personalized model refinement.</a:t>
            </a:r>
            <a:endParaRPr lang="en-US" dirty="0"/>
          </a:p>
          <a:p>
            <a:pPr marL="1028700" lvl="1" indent="-342900">
              <a:buFont typeface="Courier New" panose="02070309020205020404" pitchFamily="49" charset="0"/>
              <a:buChar char="o"/>
              <a:defRPr sz="2400">
                <a:latin typeface="Times New Roman"/>
              </a:defRPr>
            </a:pPr>
            <a:r>
              <a:rPr lang="en-US" dirty="0"/>
              <a:t>Deployment via TensorFlow Lite or ONNX.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BA8F6B-FA3D-327E-DFB2-F4FA35FE64FC}"/>
              </a:ext>
            </a:extLst>
          </p:cNvPr>
          <p:cNvCxnSpPr>
            <a:cxnSpLocks/>
          </p:cNvCxnSpPr>
          <p:nvPr/>
        </p:nvCxnSpPr>
        <p:spPr>
          <a:xfrm>
            <a:off x="482600" y="1904214"/>
            <a:ext cx="11133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7FE5201-BB98-480C-BADB-207C8F893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A05B4-9473-A933-7061-0A3853463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07" y="696037"/>
            <a:ext cx="6051768" cy="20062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Rubrics for evaluation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6C116DA-899F-423B-A82A-01DAF67C1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7A030CB-D662-4E87-B668-9DE9163E9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40693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4D3D15A-BE8C-129E-1803-821DE096A37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2454" t="13148"/>
          <a:stretch/>
        </p:blipFill>
        <p:spPr>
          <a:xfrm>
            <a:off x="909849" y="3749144"/>
            <a:ext cx="9758830" cy="133366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947FE2-C7ED-40F6-BF61-8642A1E95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379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B734E-0776-2A98-1137-18026DC70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736" y="1855100"/>
            <a:ext cx="4815264" cy="2157984"/>
          </a:xfrm>
        </p:spPr>
        <p:txBody>
          <a:bodyPr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534935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AnalogousFromDarkSeedLeftStep">
      <a:dk1>
        <a:srgbClr val="000000"/>
      </a:dk1>
      <a:lt1>
        <a:srgbClr val="FFFFFF"/>
      </a:lt1>
      <a:dk2>
        <a:srgbClr val="202D38"/>
      </a:dk2>
      <a:lt2>
        <a:srgbClr val="E3E8E2"/>
      </a:lt2>
      <a:accent1>
        <a:srgbClr val="B84DC3"/>
      </a:accent1>
      <a:accent2>
        <a:srgbClr val="753BB1"/>
      </a:accent2>
      <a:accent3>
        <a:srgbClr val="554DC3"/>
      </a:accent3>
      <a:accent4>
        <a:srgbClr val="3B63B1"/>
      </a:accent4>
      <a:accent5>
        <a:srgbClr val="4DA7C3"/>
      </a:accent5>
      <a:accent6>
        <a:srgbClr val="3BB19D"/>
      </a:accent6>
      <a:hlink>
        <a:srgbClr val="3E89BC"/>
      </a:hlink>
      <a:folHlink>
        <a:srgbClr val="7F7F7F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C88DE4BD008F479D3252F312ED6A3A" ma:contentTypeVersion="4" ma:contentTypeDescription="Create a new document." ma:contentTypeScope="" ma:versionID="0ba5c1a86accb438639673dc538b1dc6">
  <xsd:schema xmlns:xsd="http://www.w3.org/2001/XMLSchema" xmlns:xs="http://www.w3.org/2001/XMLSchema" xmlns:p="http://schemas.microsoft.com/office/2006/metadata/properties" xmlns:ns2="e9c3ec62-0158-4a2f-b8cb-4baa08d067c8" targetNamespace="http://schemas.microsoft.com/office/2006/metadata/properties" ma:root="true" ma:fieldsID="c5c9a6692c67b6f123e6a7df2b0c2a6f" ns2:_="">
    <xsd:import namespace="e9c3ec62-0158-4a2f-b8cb-4baa08d067c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c3ec62-0158-4a2f-b8cb-4baa08d067c8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e9c3ec62-0158-4a2f-b8cb-4baa08d067c8" xsi:nil="true"/>
  </documentManagement>
</p:properties>
</file>

<file path=customXml/itemProps1.xml><?xml version="1.0" encoding="utf-8"?>
<ds:datastoreItem xmlns:ds="http://schemas.openxmlformats.org/officeDocument/2006/customXml" ds:itemID="{793F200C-01E6-41B0-ABFB-4A6746183F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c3ec62-0158-4a2f-b8cb-4baa08d067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2DC94C-D443-4B1C-A3F8-AC4874E260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0C65C0-FCAE-45C0-886A-308A97E20579}">
  <ds:schemaRefs>
    <ds:schemaRef ds:uri="http://schemas.microsoft.com/office/2006/metadata/properties"/>
    <ds:schemaRef ds:uri="http://schemas.microsoft.com/office/infopath/2007/PartnerControls"/>
    <ds:schemaRef ds:uri="fb23a078-a9a1-4ff9-9194-ad711fa73584"/>
    <ds:schemaRef ds:uri="ea4cbc7f-9a53-4ddf-bd63-91a95df4404d"/>
    <ds:schemaRef ds:uri="e9c3ec62-0158-4a2f-b8cb-4baa08d067c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446</Words>
  <Application>Microsoft Office PowerPoint</Application>
  <PresentationFormat>Widescreen</PresentationFormat>
  <Paragraphs>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Courier New</vt:lpstr>
      <vt:lpstr>Seaford</vt:lpstr>
      <vt:lpstr>Times New Roman</vt:lpstr>
      <vt:lpstr>LevelVTI</vt:lpstr>
      <vt:lpstr>Sign Language Detection Using Convolutional Neural Networks (CNN)</vt:lpstr>
      <vt:lpstr>Introduction</vt:lpstr>
      <vt:lpstr>Problem Statement</vt:lpstr>
      <vt:lpstr>Methodology – Dataset</vt:lpstr>
      <vt:lpstr>Methodology – Data Preprocessing</vt:lpstr>
      <vt:lpstr>Methodology – Model Architecture</vt:lpstr>
      <vt:lpstr>Methodology – Training Configuration</vt:lpstr>
      <vt:lpstr>Results</vt:lpstr>
      <vt:lpstr>Training Curves </vt:lpstr>
      <vt:lpstr>Observations</vt:lpstr>
      <vt:lpstr>Correct Predictions </vt:lpstr>
      <vt:lpstr>Incorrect Predictions </vt:lpstr>
      <vt:lpstr>Conclusion</vt:lpstr>
      <vt:lpstr>Rubrics for evaluation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Raja Hashim Ali Asstt. Prof FCS</dc:creator>
  <cp:lastModifiedBy>Anurag Balasaheb Dome</cp:lastModifiedBy>
  <cp:revision>5</cp:revision>
  <dcterms:created xsi:type="dcterms:W3CDTF">2024-07-03T03:26:42Z</dcterms:created>
  <dcterms:modified xsi:type="dcterms:W3CDTF">2025-07-08T09:36:00Z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0x010100D3C88DE4BD008F479D3252F312ED6A3A</vt:lpwstr>
  </property>
  <property fmtid="{D5CDD505-2E9C-101B-9397-08002B2CF9AE}" pid="3" name="Order">
    <vt:r8>1900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